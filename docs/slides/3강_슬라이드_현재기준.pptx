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320040"/>
            <a:ext cx="1133856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맑은 고딕"/>
              </a:rPr>
              <a:t>3강. MCP x Verse 게임플레이 루프 : 타임어택 &amp; 매치 시스템</a:t>
            </a:r>
          </a:p>
          <a:p>
            <a:pPr>
              <a:defRPr sz="900"/>
            </a:pPr>
          </a:p>
          <a:p>
            <a:pPr marL="274320" indent="0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맑은 고딕"/>
              </a:rPr>
              <a:t>1. 학습 목표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1~2강에서 배치한 체크포인트·결승선·장애물에 실제 Verse 로직 연결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5분 타임어택 카운트다운 및 플레이어별 골인 기록 시스템 구현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전원 골인 또는 시간 종료 시 순위·기록을 보여주는 매치 종료 화면 완성</a:t>
            </a:r>
          </a:p>
          <a:p>
            <a:pPr>
              <a:defRPr sz="900"/>
            </a:pPr>
          </a:p>
          <a:p>
            <a:pPr marL="274320" indent="0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맑은 고딕"/>
              </a:rPr>
              <a:t>2. 핵심 가치:  승패 판정·기록·순위·사운드 피드백을 갖춘 "플레이 가능한 게임"으로 완성</a:t>
            </a:r>
          </a:p>
          <a:p>
            <a:pPr>
              <a:defRPr sz="900"/>
            </a:pPr>
          </a:p>
          <a:p>
            <a:pPr marL="274320" indent="0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맑은 고딕"/>
              </a:rPr>
              <a:t>3. MCP 활용 세부 내용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MCP가 find_actors로 장치를 조회하고 @editable 칸에 자동 연결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플레이어별 상태([player] 맵: 체크포인트 수, 골인 순위·시간)를 MCP가 설계·작성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종료 조건 판정·순위 계산을 MCP가 생성하고 BuildAll 컴파일과 로그로 검증</a:t>
            </a:r>
          </a:p>
          <a:p>
            <a:pPr>
              <a:defRPr sz="900"/>
            </a:pPr>
          </a:p>
          <a:p>
            <a:pPr marL="274320" indent="0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맑은 고딕"/>
              </a:rPr>
              <a:t>4. 학습 결과물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타임어택 카운트다운 + 플레이어별 골인 기록 시스템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체크포인트 진행도·실시간 순위 HUD와 결과 화면(순위·걸린 시간)</a:t>
            </a:r>
          </a:p>
          <a:p>
            <a:pPr marL="548640" indent="0"/>
            <a:r>
              <a:rPr sz="1800" b="0">
                <a:solidFill>
                  <a:srgbClr val="FFFFFF"/>
                </a:solidFill>
                <a:latin typeface="맑은 고딕"/>
              </a:rPr>
              <a:t>• 이벤트 사운드·배경음악까지 갖춘, 1~3강을 통해 완성된 게임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320040"/>
            <a:ext cx="1133856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맑은 고딕"/>
              </a:rPr>
              <a:t>게임플레이 루프 구성도</a:t>
            </a:r>
          </a:p>
          <a:p>
            <a:pPr>
              <a:defRPr sz="850"/>
            </a:pPr>
          </a:p>
          <a:p>
            <a:pPr marL="274320" indent="0">
              <a:spcBef>
                <a:spcPts val="200"/>
              </a:spcBef>
            </a:pPr>
            <a:r>
              <a:rPr sz="1700" b="0">
                <a:solidFill>
                  <a:srgbClr val="FFFFFF"/>
                </a:solidFill>
                <a:latin typeface="맑은 고딕"/>
              </a:rPr>
              <a:t>1. race_manager (creative_device)</a:t>
            </a:r>
          </a:p>
          <a:p>
            <a:pPr marL="548640" indent="0"/>
            <a:r>
              <a:rPr sz="1700" b="0">
                <a:solidFill>
                  <a:srgbClr val="FFFFFF"/>
                </a:solidFill>
                <a:latin typeface="맑은 고딕"/>
              </a:rPr>
              <a:t>• 5분 카운트다운, 골인 감지·기록, 체크포인트 진행도, 실시간 순위, 마지막 10초 알람, 결과 화면, 게임 종료</a:t>
            </a:r>
          </a:p>
          <a:p>
            <a:pPr>
              <a:defRPr sz="850"/>
            </a:pPr>
          </a:p>
          <a:p>
            <a:pPr marL="274320" indent="0">
              <a:spcBef>
                <a:spcPts val="200"/>
              </a:spcBef>
            </a:pPr>
            <a:r>
              <a:rPr sz="1700" b="0">
                <a:solidFill>
                  <a:srgbClr val="FFFFFF"/>
                </a:solidFill>
                <a:latin typeface="맑은 고딕"/>
              </a:rPr>
              <a:t>2. 체크포인트 패드 (player_checkpoint_device)</a:t>
            </a:r>
          </a:p>
          <a:p>
            <a:pPr marL="548640" indent="0"/>
            <a:r>
              <a:rPr sz="1700" b="0">
                <a:solidFill>
                  <a:srgbClr val="FFFFFF"/>
                </a:solidFill>
                <a:latin typeface="맑은 고딕"/>
              </a:rPr>
              <a:t>• 낙사 후 리스폰은 장치 기본 기능이 처리, Verse는 밟은 개수만 집계해 HUD에 표시</a:t>
            </a:r>
          </a:p>
          <a:p>
            <a:pPr>
              <a:defRPr sz="850"/>
            </a:pPr>
          </a:p>
          <a:p>
            <a:pPr marL="274320" indent="0">
              <a:spcBef>
                <a:spcPts val="200"/>
              </a:spcBef>
            </a:pPr>
            <a:r>
              <a:rPr sz="1700" b="0">
                <a:solidFill>
                  <a:srgbClr val="FFFFFF"/>
                </a:solidFill>
                <a:latin typeface="맑은 고딕"/>
              </a:rPr>
              <a:t>3. flipper_knockback</a:t>
            </a:r>
          </a:p>
          <a:p>
            <a:pPr marL="548640" indent="0"/>
            <a:r>
              <a:rPr sz="1700" b="0">
                <a:solidFill>
                  <a:srgbClr val="FFFFFF"/>
                </a:solidFill>
                <a:latin typeface="맑은 고딕"/>
              </a:rPr>
              <a:t>• 플리퍼·기둥·주먹에 닿으면 바운서를 발밑으로 보내 튕겨냄</a:t>
            </a:r>
          </a:p>
          <a:p>
            <a:pPr>
              <a:defRPr sz="850"/>
            </a:pPr>
          </a:p>
          <a:p>
            <a:pPr marL="274320" indent="0">
              <a:spcBef>
                <a:spcPts val="200"/>
              </a:spcBef>
            </a:pPr>
            <a:r>
              <a:rPr sz="1700" b="0">
                <a:solidFill>
                  <a:srgbClr val="FFFFFF"/>
                </a:solidFill>
                <a:latin typeface="맑은 고딕"/>
              </a:rPr>
              <a:t>4. seesaw_controller</a:t>
            </a:r>
          </a:p>
          <a:p>
            <a:pPr marL="548640" indent="0"/>
            <a:r>
              <a:rPr sz="1700" b="0">
                <a:solidFill>
                  <a:srgbClr val="FFFFFF"/>
                </a:solidFill>
                <a:latin typeface="맑은 고딕"/>
              </a:rPr>
              <a:t>• 시소 2개를 기울이고, 위의 범퍼 기둥 8개가 시소 중심을 돌며 튕겨냄</a:t>
            </a:r>
          </a:p>
          <a:p>
            <a:pPr>
              <a:defRPr sz="850"/>
            </a:pPr>
          </a:p>
          <a:p>
            <a:pPr marL="274320" indent="0">
              <a:spcBef>
                <a:spcPts val="200"/>
              </a:spcBef>
            </a:pPr>
            <a:r>
              <a:rPr sz="1700" b="0">
                <a:solidFill>
                  <a:srgbClr val="FFFFFF"/>
                </a:solidFill>
                <a:latin typeface="맑은 고딕"/>
              </a:rPr>
              <a:t>5. sfx_manager</a:t>
            </a:r>
          </a:p>
          <a:p>
            <a:pPr marL="548640" indent="0"/>
            <a:r>
              <a:rPr sz="1700" b="0">
                <a:solidFill>
                  <a:srgbClr val="FFFFFF"/>
                </a:solidFill>
                <a:latin typeface="맑은 고딕"/>
              </a:rPr>
              <a:t>• 리스폰·낙사·체크포인트·에어벤트 바람 소리를 상태 변화로 감지해 재생</a:t>
            </a:r>
          </a:p>
          <a:p>
            <a:pPr>
              <a:defRPr sz="850"/>
            </a:pPr>
          </a:p>
          <a:p>
            <a:pPr marL="274320" indent="0">
              <a:spcBef>
                <a:spcPts val="200"/>
              </a:spcBef>
            </a:pPr>
            <a:r>
              <a:rPr sz="1700" b="0">
                <a:solidFill>
                  <a:srgbClr val="FFFFFF"/>
                </a:solidFill>
                <a:latin typeface="맑은 고딕"/>
              </a:rPr>
              <a:t>6. 결과 화면 / HUD (race_manager 안에서 구성)</a:t>
            </a:r>
          </a:p>
          <a:p>
            <a:pPr marL="548640" indent="0"/>
            <a:r>
              <a:rPr sz="1700" b="0">
                <a:solidFill>
                  <a:srgbClr val="FFFFFF"/>
                </a:solidFill>
                <a:latin typeface="맑은 고딕"/>
              </a:rPr>
              <a:t>• 위: 타이머·체크포인트 / 왼쪽 아래: 순위(1ST / 4) / 전체: 결과(순위·걸린 시간 또는 TIME OVER!)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320040"/>
            <a:ext cx="1133856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FFFFFF"/>
                </a:solidFill>
                <a:latin typeface="맑은 고딕"/>
              </a:rPr>
              <a:t>강의 상세 워크플로우</a:t>
            </a:r>
          </a:p>
          <a:p>
            <a:pPr>
              <a:defRPr sz="775"/>
            </a:pP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1) 장치 조회 및 Verse 연결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MCP가 find_actors로 체크포인트·결승선 장치를 찾아 @editable 칸에 자동 연결하고, 값을 다시 읽어 검증</a:t>
            </a: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2) 플레이어별 상태 추적 자료구조 설계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[player]int(체크포인트 수), [agent]int(순위·시간) 맵을 쓰는 코드를 MCP에게 요청 → VerseToolset.WriteFile로 파일 생성</a:t>
            </a: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3) 타임어택 타이머와 골인 로직 작성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카운트다운과 결승선 감지를 연결, 골인 시 시간 정지·기록 저장 → BuildAll로 컴파일 검증</a:t>
            </a: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4) 체크포인트 진행도와 낙사 처리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'처음 밟음' 이벤트로 진행도 집계, 낙사는 장치 기본 리스폰, 죽음·리스폰 소리는 상태 변화 감지로 재생</a:t>
            </a: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5) 매치 종료와 결과 화면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시간 초과 또는 전원 골인 판정 → 순위·걸린 시간 결과 화면 표시 → End Game 작동</a:t>
            </a: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6) 사운드와 HUD 마무리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직접 만든 wav를 가져와 Audio Player 연결 후 Play(Agent), 마지막 10초 알람과 순위 HUD 추가</a:t>
            </a:r>
          </a:p>
          <a:p>
            <a:pPr marL="274320" indent="0">
              <a:spcBef>
                <a:spcPts val="200"/>
              </a:spcBef>
            </a:pPr>
            <a:r>
              <a:rPr sz="1550" b="0">
                <a:solidFill>
                  <a:srgbClr val="FFFFFF"/>
                </a:solidFill>
                <a:latin typeface="맑은 고딕"/>
              </a:rPr>
              <a:t>7) 통합 플레이테스트</a:t>
            </a:r>
          </a:p>
          <a:p>
            <a:pPr marL="548640" indent="0"/>
            <a:r>
              <a:rPr sz="1550" b="0">
                <a:solidFill>
                  <a:srgbClr val="FFFFFF"/>
                </a:solidFill>
                <a:latin typeface="맑은 고딕"/>
              </a:rPr>
              <a:t>• 실습내용: 전체 게임을 처음부터 끝까지 플레이 → 장애물·체크포인트·타이머·순위·소리 검증, 로그와 녹화로 문제를 찾아 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